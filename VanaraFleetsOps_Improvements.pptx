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5B7B-A3B7-F3F4-2E09-D8F537BEE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1793D-4629-5FC8-D09C-BD3C422C0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5428F-9532-86E5-0173-C14B726B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C6321-7932-4855-EB67-F0553AE4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2A23-4C08-9527-3C20-8FDCCB06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354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1F94-7155-3A24-65EE-9348C1F5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35D0-6CB1-FCC1-CA51-AD2D287C4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1D307-44F3-466E-D13E-4707FD6B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16393-844C-642B-5B8D-F0AB6400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E84B2-0EF8-C993-6746-D997DDE8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4525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239A-712B-3C76-41C4-F87ECBC0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936BC-D576-669A-6BB8-7D9A93708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FA619-994A-5C59-336F-4D998576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AABB9-9093-31DA-8779-A08148DD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FE64-915F-7CE0-EBD4-EF8DBE8A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3822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E9BF-330A-EE2D-F534-E741B991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F561-B37F-FB31-B401-13687FB51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E24A8-A9FE-0BBA-28AE-E8B92AE66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5B665-33C4-A41F-DE32-C966B7F6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0C4B0-6ED2-BB2C-7643-CF455530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5867C-1261-2A52-EA9C-9F0415CB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8877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8AC8-1F50-B98C-021C-C49FFECC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C49EB-32A4-3CE4-E9F1-F605F711A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B711D-4276-24CF-C107-D55EB4778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82D3F-CEE2-6C69-2455-412946E90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F914A-31F7-D6EB-C90F-EFFBE8614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B580B-CD1E-3C59-1BC7-CEB34AC9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C7B6C-83C2-7B0F-5264-2BF65219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CF533D-99AA-14E6-EA7A-95591001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1491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5C36-9090-A3A5-C954-AB50E648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B4F49-24C5-2A5E-B560-AD8A2E31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02EB9-4AF6-E589-11BE-2E46A2A3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AFBBC-1009-B801-411F-1545DF3A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5760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9B98B-1BB1-99FC-F0B0-467A74B1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46A97-883F-99B3-4B69-7C3CEA5D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2641F-C54C-855B-0AE8-35EFC8DA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3234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6D44-71FE-A1CF-40F5-23B63035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3D987-9142-6C26-BAF0-A524CBF6F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25783-E117-7D95-5F34-6EF19235B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874EE-A97F-47EA-6B10-40EEE8D8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9B6A7-26A7-630D-810E-632DE8B9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E50FB-B032-A261-52E7-399FAAF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7558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A634-F44E-2BC1-21BD-DD553C490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81744-AD58-ADB3-4897-F3E62E19C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8860E-6ED2-F887-C403-062C0DA0B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97928-FA59-2CEF-F30A-1CD7C270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A1AFC-47E0-C2C1-C992-C4E12201F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B965F-0E77-72D4-F564-9C3FA61D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2195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4B6B-A3BA-2F36-0D19-693E2A9D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EF24-D5E2-57A8-D83C-FACD32328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4F7A1-376A-CF53-FEBA-9AFA2BDA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52FD-5AA2-CCAF-B083-D1A9E3C8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50FC-A276-27A5-A20F-09BE4174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4078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0AB84-BD17-9AC9-CDBA-273948DE3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AEC14-0FEA-B3E6-B1CD-442112812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74272-06CB-F958-E108-C5EE63CE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01281-564B-2F7B-D0FD-83030AD6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2F24F-4898-F016-799E-DD7FBCFE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85277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5B082-063A-3330-0EBC-54B13864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623AD-9315-3F7B-140B-4BB7BE24E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D8D2F-1D8A-FDA3-DC47-58EE166C6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607B5-E60D-4B4E-A941-993B6DE6A7EA}" type="datetimeFigureOut">
              <a:rPr lang="en-NG" smtClean="0"/>
              <a:t>12/05/2026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057F4-144E-88CD-8E7B-0284B7DE3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38E9C-B1F2-4B19-AABF-DEA081635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4E14A-DBD7-4389-A7BC-67B3AA69A51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7759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15E44F-541B-DF8A-87A1-96A41D40BB88}"/>
              </a:ext>
            </a:extLst>
          </p:cNvPr>
          <p:cNvSpPr txBox="1"/>
          <p:nvPr/>
        </p:nvSpPr>
        <p:spPr>
          <a:xfrm>
            <a:off x="1056967" y="594734"/>
            <a:ext cx="6012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ght Melody Personal Use Only" panose="02000500000000000000" pitchFamily="50" charset="0"/>
              </a:rPr>
              <a:t>Monthly Fuel Reminders 		</a:t>
            </a:r>
            <a:r>
              <a:rPr lang="en-US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1/3</a:t>
            </a:r>
            <a:endParaRPr lang="en-NG" b="1" dirty="0">
              <a:solidFill>
                <a:srgbClr val="EE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EF9D5-2D7F-653D-C55F-788CC3479901}"/>
              </a:ext>
            </a:extLst>
          </p:cNvPr>
          <p:cNvSpPr txBox="1"/>
          <p:nvPr/>
        </p:nvSpPr>
        <p:spPr>
          <a:xfrm>
            <a:off x="7069394" y="2906646"/>
            <a:ext cx="4345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When adding vehicles, set </a:t>
            </a:r>
            <a:r>
              <a:rPr lang="en-NG" sz="16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"Monthly Fuel Reminder" to flag it</a:t>
            </a:r>
            <a:r>
              <a:rPr lang="en-US" sz="16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NG" sz="16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Dashboard shows a reminder strip at the top of each month listing all flagged vehicles not yet fuelled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A4A4EC-A1CE-EFD0-7015-AB4F4AC5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67" y="1086942"/>
            <a:ext cx="5805948" cy="507800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0FF757-17F0-FBB9-88E3-57FBA6EDA2B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517058" y="3568366"/>
            <a:ext cx="4552336" cy="954473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E969A1E-2B64-2425-EDE6-02741865B41A}"/>
              </a:ext>
            </a:extLst>
          </p:cNvPr>
          <p:cNvGrpSpPr/>
          <p:nvPr/>
        </p:nvGrpSpPr>
        <p:grpSpPr>
          <a:xfrm>
            <a:off x="0" y="0"/>
            <a:ext cx="12192000" cy="456093"/>
            <a:chOff x="0" y="0"/>
            <a:chExt cx="12192000" cy="45609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816891-07F5-42CC-F348-4666C3190419}"/>
                </a:ext>
              </a:extLst>
            </p:cNvPr>
            <p:cNvSpPr/>
            <p:nvPr/>
          </p:nvSpPr>
          <p:spPr>
            <a:xfrm>
              <a:off x="0" y="0"/>
              <a:ext cx="12192000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8A0E8E-4A6E-D762-27EC-5C99799F2448}"/>
                </a:ext>
              </a:extLst>
            </p:cNvPr>
            <p:cNvSpPr/>
            <p:nvPr/>
          </p:nvSpPr>
          <p:spPr>
            <a:xfrm>
              <a:off x="9114503" y="156209"/>
              <a:ext cx="3077496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BD7F73-1D25-34E6-A98A-5A614218CFAD}"/>
                </a:ext>
              </a:extLst>
            </p:cNvPr>
            <p:cNvSpPr/>
            <p:nvPr/>
          </p:nvSpPr>
          <p:spPr>
            <a:xfrm>
              <a:off x="9330812" y="318441"/>
              <a:ext cx="2861187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</p:spTree>
    <p:extLst>
      <p:ext uri="{BB962C8B-B14F-4D97-AF65-F5344CB8AC3E}">
        <p14:creationId xmlns:p14="http://schemas.microsoft.com/office/powerpoint/2010/main" val="35215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715A-6222-757B-BF0C-6FEF2E4B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EDD24C-D634-3239-6700-BBFC06054AD6}"/>
              </a:ext>
            </a:extLst>
          </p:cNvPr>
          <p:cNvSpPr txBox="1"/>
          <p:nvPr/>
        </p:nvSpPr>
        <p:spPr>
          <a:xfrm>
            <a:off x="997974" y="584902"/>
            <a:ext cx="53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ght Melody Personal Use Only" panose="02000500000000000000" pitchFamily="50" charset="0"/>
              </a:rPr>
              <a:t>Monthly Fuel Reminders 		</a:t>
            </a:r>
            <a:r>
              <a:rPr lang="en-US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2/3</a:t>
            </a:r>
            <a:endParaRPr lang="en-NG" b="1" dirty="0">
              <a:solidFill>
                <a:srgbClr val="EE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D8126-8FF8-9D49-8CC0-A7E6BF1DDF90}"/>
              </a:ext>
            </a:extLst>
          </p:cNvPr>
          <p:cNvSpPr txBox="1"/>
          <p:nvPr/>
        </p:nvSpPr>
        <p:spPr>
          <a:xfrm>
            <a:off x="1096296" y="5740398"/>
            <a:ext cx="1011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NG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Each vehicle in the strip has two buttons: </a:t>
            </a:r>
            <a:r>
              <a:rPr lang="en-NG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Issue</a:t>
            </a:r>
            <a:r>
              <a:rPr lang="en-NG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(goes straight to issue coupon form pre-filled with that vehicle) and </a:t>
            </a:r>
            <a:r>
              <a:rPr lang="en-NG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Dismiss</a:t>
            </a:r>
            <a:r>
              <a:rPr lang="en-NG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(confirmation popup, then hides that vehicle's reminder for the rest of the month)</a:t>
            </a:r>
            <a:endParaRPr lang="en-NG" sz="1600" dirty="0">
              <a:solidFill>
                <a:schemeClr val="tx2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0A35CB-35EE-7421-13B4-4989ACAB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97" y="1096277"/>
            <a:ext cx="9999407" cy="4502078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A3FD13-BE03-6842-93C5-CB2CE20B4DB5}"/>
              </a:ext>
            </a:extLst>
          </p:cNvPr>
          <p:cNvCxnSpPr>
            <a:cxnSpLocks/>
          </p:cNvCxnSpPr>
          <p:nvPr/>
        </p:nvCxnSpPr>
        <p:spPr>
          <a:xfrm flipH="1" flipV="1">
            <a:off x="4178710" y="4277032"/>
            <a:ext cx="3215148" cy="1484691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E5ACC33-629D-D3AB-8BCF-43F6E0B6ECB1}"/>
              </a:ext>
            </a:extLst>
          </p:cNvPr>
          <p:cNvGrpSpPr/>
          <p:nvPr/>
        </p:nvGrpSpPr>
        <p:grpSpPr>
          <a:xfrm>
            <a:off x="0" y="0"/>
            <a:ext cx="12192000" cy="456093"/>
            <a:chOff x="0" y="0"/>
            <a:chExt cx="12192000" cy="45609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32041E-9A82-191A-5D68-2B1024A392FC}"/>
                </a:ext>
              </a:extLst>
            </p:cNvPr>
            <p:cNvSpPr/>
            <p:nvPr/>
          </p:nvSpPr>
          <p:spPr>
            <a:xfrm>
              <a:off x="0" y="0"/>
              <a:ext cx="12192000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01F748-DC15-5959-D7A7-BAE975B595CC}"/>
                </a:ext>
              </a:extLst>
            </p:cNvPr>
            <p:cNvSpPr/>
            <p:nvPr/>
          </p:nvSpPr>
          <p:spPr>
            <a:xfrm>
              <a:off x="9114503" y="156209"/>
              <a:ext cx="3077496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771E68-FF43-9469-3B8D-12C2177CF4CA}"/>
                </a:ext>
              </a:extLst>
            </p:cNvPr>
            <p:cNvSpPr/>
            <p:nvPr/>
          </p:nvSpPr>
          <p:spPr>
            <a:xfrm>
              <a:off x="9330812" y="318441"/>
              <a:ext cx="2861187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</p:spTree>
    <p:extLst>
      <p:ext uri="{BB962C8B-B14F-4D97-AF65-F5344CB8AC3E}">
        <p14:creationId xmlns:p14="http://schemas.microsoft.com/office/powerpoint/2010/main" val="303752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24B5-ABDA-049D-786D-ECD98145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A7161A-3178-B654-C19D-15FF3D9CE8F2}"/>
              </a:ext>
            </a:extLst>
          </p:cNvPr>
          <p:cNvSpPr txBox="1"/>
          <p:nvPr/>
        </p:nvSpPr>
        <p:spPr>
          <a:xfrm>
            <a:off x="997974" y="584902"/>
            <a:ext cx="53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ght Melody Personal Use Only" panose="02000500000000000000" pitchFamily="50" charset="0"/>
              </a:rPr>
              <a:t>Monthly Fuel Reminders 		</a:t>
            </a:r>
            <a:r>
              <a:rPr lang="en-US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3/3</a:t>
            </a:r>
            <a:endParaRPr lang="en-NG" b="1" dirty="0">
              <a:solidFill>
                <a:srgbClr val="EE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ADE7E-974A-3B49-D7DE-A8C00AD9603D}"/>
              </a:ext>
            </a:extLst>
          </p:cNvPr>
          <p:cNvSpPr txBox="1"/>
          <p:nvPr/>
        </p:nvSpPr>
        <p:spPr>
          <a:xfrm>
            <a:off x="1039761" y="5913324"/>
            <a:ext cx="10112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Email reminder for monthly fuel.</a:t>
            </a:r>
            <a:endParaRPr lang="en-NG" sz="1600" dirty="0">
              <a:solidFill>
                <a:schemeClr val="tx2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D344AE-EF1E-9955-6D8C-54D74C34057E}"/>
              </a:ext>
            </a:extLst>
          </p:cNvPr>
          <p:cNvCxnSpPr>
            <a:cxnSpLocks/>
          </p:cNvCxnSpPr>
          <p:nvPr/>
        </p:nvCxnSpPr>
        <p:spPr>
          <a:xfrm flipH="1" flipV="1">
            <a:off x="4178710" y="4277032"/>
            <a:ext cx="3215148" cy="1484691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27422601-5EE9-4534-9F51-A29F26B17B26}"/>
              </a:ext>
            </a:extLst>
          </p:cNvPr>
          <p:cNvGrpSpPr/>
          <p:nvPr/>
        </p:nvGrpSpPr>
        <p:grpSpPr>
          <a:xfrm>
            <a:off x="0" y="0"/>
            <a:ext cx="12192000" cy="456093"/>
            <a:chOff x="0" y="0"/>
            <a:chExt cx="12192000" cy="45609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6B6BC0-F6C8-9153-1C1B-07944FF20DD6}"/>
                </a:ext>
              </a:extLst>
            </p:cNvPr>
            <p:cNvSpPr/>
            <p:nvPr/>
          </p:nvSpPr>
          <p:spPr>
            <a:xfrm>
              <a:off x="0" y="0"/>
              <a:ext cx="12192000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85A842-7786-BAE5-6874-94961099CA6F}"/>
                </a:ext>
              </a:extLst>
            </p:cNvPr>
            <p:cNvSpPr/>
            <p:nvPr/>
          </p:nvSpPr>
          <p:spPr>
            <a:xfrm>
              <a:off x="9114503" y="156209"/>
              <a:ext cx="3077496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17CF54-88D3-3D70-E91A-380F8E17CC91}"/>
                </a:ext>
              </a:extLst>
            </p:cNvPr>
            <p:cNvSpPr/>
            <p:nvPr/>
          </p:nvSpPr>
          <p:spPr>
            <a:xfrm>
              <a:off x="9330812" y="318441"/>
              <a:ext cx="2861187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EA106C3-38A7-27DA-9BC0-D5EDE7E0E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36" y="1105835"/>
            <a:ext cx="9984515" cy="465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8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8E40-B764-A6DE-696E-CA5C870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2123C4-3586-80DA-5A17-2359A67BF416}"/>
              </a:ext>
            </a:extLst>
          </p:cNvPr>
          <p:cNvSpPr txBox="1"/>
          <p:nvPr/>
        </p:nvSpPr>
        <p:spPr>
          <a:xfrm>
            <a:off x="997974" y="614398"/>
            <a:ext cx="53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ght Melody Personal Use Only" panose="02000500000000000000" pitchFamily="50" charset="0"/>
              </a:rPr>
              <a:t>Vehicle Licenses Expiry Reminder		</a:t>
            </a:r>
            <a:r>
              <a:rPr lang="en-US" dirty="0">
                <a:solidFill>
                  <a:srgbClr val="EE0000"/>
                </a:solidFill>
                <a:latin typeface="Arial Black" panose="020B0A04020102020204" pitchFamily="34" charset="0"/>
              </a:rPr>
              <a:t>1/2</a:t>
            </a:r>
            <a:endParaRPr lang="en-NG" b="1" dirty="0">
              <a:solidFill>
                <a:srgbClr val="EE0000"/>
              </a:solidFill>
              <a:latin typeface="Arial Black" panose="020B0A04020102020204" pitchFamily="34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4BCC8-1B41-B734-DC40-1EC606276464}"/>
              </a:ext>
            </a:extLst>
          </p:cNvPr>
          <p:cNvSpPr txBox="1"/>
          <p:nvPr/>
        </p:nvSpPr>
        <p:spPr>
          <a:xfrm>
            <a:off x="1039761" y="4737508"/>
            <a:ext cx="10112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Since almost all vehicles are renewed at the same time, one Vehicle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Licence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Expiry record covers the whole fleet.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Dashboard right column has a "Fleet Vehicle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Licences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" card showing expiry date and status badge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Alert triggers at 60 days before expiry (warning) and on expiry (danger)</a:t>
            </a:r>
            <a:endParaRPr lang="en-NG" sz="1600" dirty="0">
              <a:solidFill>
                <a:schemeClr val="tx2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894C1-8109-EDAE-6FCB-617167223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74" y="1311508"/>
            <a:ext cx="10112477" cy="288366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D3BA41-7AB5-B11C-A35F-2A68AEF8F952}"/>
              </a:ext>
            </a:extLst>
          </p:cNvPr>
          <p:cNvCxnSpPr>
            <a:cxnSpLocks/>
          </p:cNvCxnSpPr>
          <p:nvPr/>
        </p:nvCxnSpPr>
        <p:spPr>
          <a:xfrm flipH="1" flipV="1">
            <a:off x="3274142" y="2546555"/>
            <a:ext cx="1946787" cy="2190953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7C3362-8068-3836-4EAA-6B3B23005775}"/>
              </a:ext>
            </a:extLst>
          </p:cNvPr>
          <p:cNvCxnSpPr>
            <a:cxnSpLocks/>
          </p:cNvCxnSpPr>
          <p:nvPr/>
        </p:nvCxnSpPr>
        <p:spPr>
          <a:xfrm flipV="1">
            <a:off x="6853084" y="2281084"/>
            <a:ext cx="2241755" cy="2456424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A88F48-D498-2154-6781-B70587D7C788}"/>
              </a:ext>
            </a:extLst>
          </p:cNvPr>
          <p:cNvGrpSpPr/>
          <p:nvPr/>
        </p:nvGrpSpPr>
        <p:grpSpPr>
          <a:xfrm>
            <a:off x="0" y="0"/>
            <a:ext cx="12192000" cy="456093"/>
            <a:chOff x="0" y="0"/>
            <a:chExt cx="12192000" cy="45609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C2E605-3517-4894-15EB-8DC7341CD550}"/>
                </a:ext>
              </a:extLst>
            </p:cNvPr>
            <p:cNvSpPr/>
            <p:nvPr/>
          </p:nvSpPr>
          <p:spPr>
            <a:xfrm>
              <a:off x="0" y="0"/>
              <a:ext cx="12192000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A709244-68E2-7D63-C154-28563EC52068}"/>
                </a:ext>
              </a:extLst>
            </p:cNvPr>
            <p:cNvSpPr/>
            <p:nvPr/>
          </p:nvSpPr>
          <p:spPr>
            <a:xfrm>
              <a:off x="9114503" y="156209"/>
              <a:ext cx="3077496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9A1CA4-A0F4-DEB6-6933-5DB1714E5B25}"/>
                </a:ext>
              </a:extLst>
            </p:cNvPr>
            <p:cNvSpPr/>
            <p:nvPr/>
          </p:nvSpPr>
          <p:spPr>
            <a:xfrm>
              <a:off x="9330812" y="318441"/>
              <a:ext cx="2861187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</p:spTree>
    <p:extLst>
      <p:ext uri="{BB962C8B-B14F-4D97-AF65-F5344CB8AC3E}">
        <p14:creationId xmlns:p14="http://schemas.microsoft.com/office/powerpoint/2010/main" val="103781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7642-BF2F-54FD-F082-1458DA92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C2250A-BD5D-B10F-C160-862326BF12DE}"/>
              </a:ext>
            </a:extLst>
          </p:cNvPr>
          <p:cNvSpPr txBox="1"/>
          <p:nvPr/>
        </p:nvSpPr>
        <p:spPr>
          <a:xfrm>
            <a:off x="997974" y="614398"/>
            <a:ext cx="53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ght Melody Personal Use Only" panose="02000500000000000000" pitchFamily="50" charset="0"/>
              </a:rPr>
              <a:t>Vehicle Licenses Expiry Reminder		</a:t>
            </a:r>
            <a:r>
              <a:rPr lang="en-US" dirty="0">
                <a:solidFill>
                  <a:srgbClr val="EE0000"/>
                </a:solidFill>
                <a:latin typeface="Arial Black" panose="020B0A04020102020204" pitchFamily="34" charset="0"/>
              </a:rPr>
              <a:t> 2/2</a:t>
            </a:r>
            <a:endParaRPr lang="en-NG" b="1" dirty="0">
              <a:solidFill>
                <a:srgbClr val="EE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B1ACB-EB5C-C601-FD73-86BE1583F045}"/>
              </a:ext>
            </a:extLst>
          </p:cNvPr>
          <p:cNvSpPr txBox="1"/>
          <p:nvPr/>
        </p:nvSpPr>
        <p:spPr>
          <a:xfrm>
            <a:off x="1039761" y="5543707"/>
            <a:ext cx="10112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Email reminder for expiring Fleet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Licence</a:t>
            </a:r>
            <a:endParaRPr lang="en-NG" sz="1600" dirty="0">
              <a:solidFill>
                <a:schemeClr val="tx2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ACE7FF-4D67-CEBE-303F-94E19F4D8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56" y="1182003"/>
            <a:ext cx="9737457" cy="416343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3179A43-F4C0-F374-51AA-08C339A47AAC}"/>
              </a:ext>
            </a:extLst>
          </p:cNvPr>
          <p:cNvGrpSpPr/>
          <p:nvPr/>
        </p:nvGrpSpPr>
        <p:grpSpPr>
          <a:xfrm>
            <a:off x="0" y="0"/>
            <a:ext cx="12192000" cy="456093"/>
            <a:chOff x="0" y="0"/>
            <a:chExt cx="12192000" cy="45609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4BB4E9-C465-EF35-8D94-17A5DF65A696}"/>
                </a:ext>
              </a:extLst>
            </p:cNvPr>
            <p:cNvSpPr/>
            <p:nvPr/>
          </p:nvSpPr>
          <p:spPr>
            <a:xfrm>
              <a:off x="0" y="0"/>
              <a:ext cx="12192000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31271FB-F6B2-729C-DDE3-B2EC7C9FE423}"/>
                </a:ext>
              </a:extLst>
            </p:cNvPr>
            <p:cNvSpPr/>
            <p:nvPr/>
          </p:nvSpPr>
          <p:spPr>
            <a:xfrm>
              <a:off x="9114503" y="156209"/>
              <a:ext cx="3077496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4ABC6B3-4990-DA20-4A7C-3A7264CAD02C}"/>
                </a:ext>
              </a:extLst>
            </p:cNvPr>
            <p:cNvSpPr/>
            <p:nvPr/>
          </p:nvSpPr>
          <p:spPr>
            <a:xfrm>
              <a:off x="9330812" y="318441"/>
              <a:ext cx="2861187" cy="13765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</p:spTree>
    <p:extLst>
      <p:ext uri="{BB962C8B-B14F-4D97-AF65-F5344CB8AC3E}">
        <p14:creationId xmlns:p14="http://schemas.microsoft.com/office/powerpoint/2010/main" val="82335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171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Bright Melody Personal Use Only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Vaisah Peter Zirra</dc:creator>
  <cp:lastModifiedBy>Vaisah Peter Zirra</cp:lastModifiedBy>
  <cp:revision>6</cp:revision>
  <dcterms:created xsi:type="dcterms:W3CDTF">2026-05-04T00:54:30Z</dcterms:created>
  <dcterms:modified xsi:type="dcterms:W3CDTF">2026-05-12T00:31:45Z</dcterms:modified>
</cp:coreProperties>
</file>