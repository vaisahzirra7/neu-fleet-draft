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7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15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9886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21BEA-98D5-55FD-FF41-17D0E9260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9DC8A8-D7E7-F416-F3DC-AD55EE6BC4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053D13-5884-6207-1ADF-37564AC16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562FA-32FF-76B3-C982-A39ED8251B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3963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7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62472" y="1496723"/>
            <a:ext cx="2377440" cy="2377440"/>
          </a:xfrm>
          <a:prstGeom prst="ellipse">
            <a:avLst/>
          </a:prstGeom>
          <a:solidFill>
            <a:srgbClr val="002060"/>
          </a:solidFill>
          <a:ln w="38100">
            <a:solidFill>
              <a:srgbClr val="F5A62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7791" y="719483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A623"/>
                </a:solidFill>
                <a:latin typeface="Bright Melody Personal Use Only" panose="02000500000000000000" pitchFamily="50" charset="0"/>
                <a:ea typeface="Calibri" pitchFamily="34" charset="-122"/>
                <a:cs typeface="Poppins" panose="00000500000000000000" pitchFamily="2" charset="0"/>
              </a:rPr>
              <a:t>VanaraFleetsOps</a:t>
            </a:r>
            <a:endParaRPr lang="en-US" sz="4000" dirty="0">
              <a:latin typeface="Bright Melody Personal Use Only" panose="020005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87791" y="1647599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Bright Melody Personal Use Only" panose="02000500000000000000" pitchFamily="50" charset="0"/>
                <a:ea typeface="Calibri" pitchFamily="34" charset="-122"/>
                <a:cs typeface="Poppins" panose="00000500000000000000" pitchFamily="2" charset="0"/>
              </a:rPr>
              <a:t>NEU Fleet Management System (FMS)</a:t>
            </a:r>
            <a:endParaRPr lang="en-US" sz="2000" dirty="0">
              <a:latin typeface="Bright Melody Personal Use Only" panose="020005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87791" y="2177951"/>
            <a:ext cx="50292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87791" y="2311593"/>
            <a:ext cx="54864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70671" y="2284161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Fuel Coupon Issuance &amp; Tracking</a:t>
            </a:r>
            <a:endParaRPr lang="en-US" sz="12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87791" y="2732217"/>
            <a:ext cx="54864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70671" y="2704785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Vehicle &amp; Driver Registry</a:t>
            </a:r>
            <a:endParaRPr lang="en-US" sz="12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87791" y="3152841"/>
            <a:ext cx="54864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70671" y="3125409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Maintenance Records</a:t>
            </a:r>
            <a:endParaRPr lang="en-US" sz="12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87791" y="3573465"/>
            <a:ext cx="54864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70671" y="3546033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Management Reports — PDF &amp; Excel</a:t>
            </a:r>
            <a:endParaRPr lang="en-US" sz="12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87791" y="3994089"/>
            <a:ext cx="54864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70671" y="3966657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Role-Based Access Control</a:t>
            </a:r>
            <a:endParaRPr lang="en-US" sz="12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26720" y="4651676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© 2026 North-Eastern University, Gombe · Fleet Management System</a:t>
            </a:r>
            <a:endParaRPr lang="en-US" sz="85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3F4C353-1995-05F3-F06A-44F728565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444" y="1576560"/>
            <a:ext cx="1765495" cy="22348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9208"/>
            <a:ext cx="9144000" cy="658368"/>
          </a:xfrm>
          <a:prstGeom prst="rect">
            <a:avLst/>
          </a:prstGeom>
          <a:solidFill>
            <a:srgbClr val="001746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2578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right Melody Personal Use Only" panose="02000500000000000000" pitchFamily="50" charset="0"/>
                <a:ea typeface="Calibri" pitchFamily="34" charset="-122"/>
                <a:cs typeface="Poppins" panose="00000500000000000000" pitchFamily="2" charset="0"/>
              </a:rPr>
              <a:t>Login Page</a:t>
            </a:r>
            <a:endParaRPr lang="en-US" sz="2200" dirty="0">
              <a:latin typeface="Bright Melody Personal Use Only" panose="020005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" y="4915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Secure, email-based access for university staff only</a:t>
            </a:r>
            <a:endParaRPr lang="en-US" sz="10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6" name="Image 0" descr="/mnt/user-data/uploads/Screenshot_2026-05-02_0119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78023"/>
            <a:ext cx="8229600" cy="39221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5045256"/>
            <a:ext cx="8595360" cy="91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92044" y="22404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University email authentication</a:t>
            </a:r>
            <a:endParaRPr lang="en-US" sz="9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992044" y="4183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Password protected</a:t>
            </a:r>
            <a:endParaRPr lang="en-US" sz="9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095164" y="41360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Authorised staff only</a:t>
            </a:r>
            <a:endParaRPr lang="en-US" sz="9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095164" y="21722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Role assigned by admin</a:t>
            </a:r>
            <a:endParaRPr lang="en-US" sz="9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07"/>
            <a:ext cx="9144000" cy="658368"/>
          </a:xfrm>
          <a:prstGeom prst="rect">
            <a:avLst/>
          </a:prstGeom>
          <a:solidFill>
            <a:srgbClr val="001746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1771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right Melody Personal Use Only" panose="02000500000000000000" pitchFamily="50" charset="0"/>
                <a:ea typeface="Calibri" pitchFamily="34" charset="-122"/>
                <a:cs typeface="Poppins" panose="00000500000000000000" pitchFamily="2" charset="0"/>
              </a:rPr>
              <a:t>Dashboard</a:t>
            </a:r>
            <a:endParaRPr lang="en-US" sz="2200" dirty="0">
              <a:latin typeface="Bright Melody Personal Use Only" panose="020005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487531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Fleet overview — stats, alerts, and recent activity at a glance</a:t>
            </a:r>
            <a:endParaRPr lang="en-US" sz="10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37744" y="835003"/>
            <a:ext cx="8668512" cy="41696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mnt/user-data/uploads/Screenshot_2026-05-02_0120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71579"/>
            <a:ext cx="8595360" cy="40965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5022955"/>
            <a:ext cx="8595360" cy="91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4340"/>
            <a:ext cx="9144000" cy="658368"/>
          </a:xfrm>
          <a:prstGeom prst="rect">
            <a:avLst/>
          </a:prstGeom>
          <a:solidFill>
            <a:srgbClr val="001746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92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right Melody Personal Use Only" panose="02000500000000000000" pitchFamily="50" charset="0"/>
                <a:ea typeface="Calibri" pitchFamily="34" charset="-122"/>
                <a:cs typeface="Poppins" panose="00000500000000000000" pitchFamily="2" charset="0"/>
              </a:rPr>
              <a:t>Vehicle Management</a:t>
            </a:r>
            <a:endParaRPr lang="en-US" sz="2200" dirty="0">
              <a:latin typeface="Bright Melody Personal Use Only" panose="020005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4949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Register and track all university-owned vehicles</a:t>
            </a:r>
            <a:endParaRPr lang="en-US" sz="10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92024" y="842436"/>
            <a:ext cx="4370832" cy="212140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mnt/user-data/uploads/Screenshot_2026-05-02_0120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79012"/>
            <a:ext cx="4297680" cy="2048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298213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5568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Vehicle Register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81144" y="842436"/>
            <a:ext cx="4370832" cy="212140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/mnt/user-data/uploads/Screenshot_2026-05-02_0121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879012"/>
            <a:ext cx="4297680" cy="20482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298213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5568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Register New Vehicle Form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228600" y="3274740"/>
            <a:ext cx="8686800" cy="1719072"/>
          </a:xfrm>
          <a:prstGeom prst="rect">
            <a:avLst/>
          </a:prstGeom>
          <a:solidFill>
            <a:srgbClr val="001746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11480" y="33661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Captured per Vehicle: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11480" y="37136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Plate Number · Vehicle Type (Bus, Car, Truck…)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11480" y="39513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Make &amp; Model · Year · Colour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11480" y="418914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Engine &amp; Chassis Number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11480" y="442688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Department · Default Driver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411480" y="46646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Fuel Type (Petrol/Diesel) · Status (Active/Inactive)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72"/>
            <a:ext cx="9144000" cy="658368"/>
          </a:xfrm>
          <a:prstGeom prst="rect">
            <a:avLst/>
          </a:prstGeom>
          <a:solidFill>
            <a:srgbClr val="001746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143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right Melody Personal Use Only" panose="02000500000000000000" pitchFamily="50" charset="0"/>
                <a:ea typeface="Calibri" pitchFamily="34" charset="-122"/>
                <a:cs typeface="Poppins" panose="00000500000000000000" pitchFamily="2" charset="0"/>
              </a:rPr>
              <a:t>Driver Management</a:t>
            </a:r>
            <a:endParaRPr lang="en-US" sz="2200" dirty="0">
              <a:latin typeface="Bright Melody Personal Use Only" panose="020005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4800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Track all registered vehicle operators and their license status</a:t>
            </a:r>
            <a:endParaRPr lang="en-US" sz="10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92024" y="827568"/>
            <a:ext cx="4370832" cy="212140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mnt/user-data/uploads/Screenshot_2026-05-02_0121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64144"/>
            <a:ext cx="4297680" cy="2048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296726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5568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Driver Register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81144" y="827568"/>
            <a:ext cx="4370832" cy="212140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/mnt/user-data/uploads/Screenshot_2026-05-02_0121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864144"/>
            <a:ext cx="4297680" cy="20482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296726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5568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Register New Driver Form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228600" y="3259872"/>
            <a:ext cx="8686800" cy="1719072"/>
          </a:xfrm>
          <a:prstGeom prst="rect">
            <a:avLst/>
          </a:prstGeom>
          <a:solidFill>
            <a:srgbClr val="001746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11480" y="33513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Captured per Driver: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11480" y="36987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Full Name · Staff ID · Phone Number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11480" y="39731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License Number · License Class (A, B, C…)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11480" y="42474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License Expiry Date — expired licenses flagged in red on the dashboard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11480" y="4521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Status (Active / Inactive) · Notes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06"/>
            <a:ext cx="9144000" cy="658368"/>
          </a:xfrm>
          <a:prstGeom prst="rect">
            <a:avLst/>
          </a:prstGeom>
          <a:solidFill>
            <a:srgbClr val="001746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177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right Melody Personal Use Only" panose="02000500000000000000" pitchFamily="50" charset="0"/>
                <a:ea typeface="Calibri" pitchFamily="34" charset="-122"/>
                <a:cs typeface="Poppins" panose="00000500000000000000" pitchFamily="2" charset="0"/>
              </a:rPr>
              <a:t>Vendor Management</a:t>
            </a:r>
            <a:endParaRPr lang="en-US" sz="2200" dirty="0">
              <a:latin typeface="Bright Melody Personal Use Only" panose="020005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48753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Approved fuel stations and service providers</a:t>
            </a:r>
            <a:endParaRPr lang="en-US" sz="10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92024" y="835002"/>
            <a:ext cx="4370832" cy="212140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mnt/user-data/uploads/Screenshot_2026-05-02_0122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71578"/>
            <a:ext cx="4297680" cy="2048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297469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5568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Vendor Register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81144" y="835002"/>
            <a:ext cx="4370832" cy="212140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/mnt/user-data/uploads/Screenshot_2026-05-02_0122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871578"/>
            <a:ext cx="4297680" cy="20482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297469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5568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Add New Vendor Form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228600" y="3267306"/>
            <a:ext cx="8686800" cy="1719072"/>
          </a:xfrm>
          <a:prstGeom prst="rect">
            <a:avLst/>
          </a:prstGeom>
          <a:solidFill>
            <a:srgbClr val="001746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11480" y="335874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Vendor Types: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11480" y="370621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Fuel Station — used for fuel coupon redemption (e.g. NNPC Mega Station)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11480" y="405369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Mechanic / Workshop — for maintenance work (e.g. Total Energies Repair)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11480" y="440116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Tyre Shop · Electrical · Other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06"/>
            <a:ext cx="9144000" cy="658368"/>
          </a:xfrm>
          <a:prstGeom prst="rect">
            <a:avLst/>
          </a:prstGeom>
          <a:solidFill>
            <a:srgbClr val="001746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177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right Melody Personal Use Only" panose="02000500000000000000" pitchFamily="50" charset="0"/>
                <a:ea typeface="Calibri" pitchFamily="34" charset="-122"/>
                <a:cs typeface="Poppins" panose="00000500000000000000" pitchFamily="2" charset="0"/>
              </a:rPr>
              <a:t>Fuel Coupons</a:t>
            </a:r>
            <a:endParaRPr lang="en-US" sz="2200" dirty="0">
              <a:latin typeface="Bright Melody Personal Use Only" panose="020005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48753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Issue and manage fuel coupons for all vehicles</a:t>
            </a:r>
            <a:endParaRPr lang="en-US" sz="10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92024" y="835002"/>
            <a:ext cx="4370832" cy="212140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mnt/user-data/uploads/Screenshot_2026-05-02_0122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71578"/>
            <a:ext cx="4297680" cy="2048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297469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5568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Fuel Coupons List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81144" y="835002"/>
            <a:ext cx="4370832" cy="212140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/mnt/user-data/uploads/Screenshot_2026-05-02_0122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871578"/>
            <a:ext cx="4297680" cy="20482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297469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5568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Issue New Fuel Coupon Form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228600" y="3267306"/>
            <a:ext cx="8686800" cy="1719072"/>
          </a:xfrm>
          <a:prstGeom prst="rect">
            <a:avLst/>
          </a:prstGeom>
          <a:solidFill>
            <a:srgbClr val="001746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11480" y="335874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How it works: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11480" y="370621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Select vehicle (driver auto-fills from vehicle's default driver), fuel station, litres, and price per litre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11480" y="398053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Total coupon value is auto-calculated — e.g. 10 L × ₦1,450 = ₦14,500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11480" y="425485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Coupon gets a unique ID (e.g. NEU/FMS/CP/NL9EA01J) and a verification code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11480" y="452917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Status cycles: Issued → Redeemed (or Cancelled)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1774"/>
            <a:ext cx="9144000" cy="658368"/>
          </a:xfrm>
          <a:prstGeom prst="rect">
            <a:avLst/>
          </a:prstGeom>
          <a:solidFill>
            <a:srgbClr val="001746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663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right Melody Personal Use Only" panose="02000500000000000000" pitchFamily="50" charset="0"/>
                <a:ea typeface="Calibri" pitchFamily="34" charset="-122"/>
                <a:cs typeface="Poppins" panose="00000500000000000000" pitchFamily="2" charset="0"/>
              </a:rPr>
              <a:t>Fuel Coupon Slip</a:t>
            </a:r>
            <a:endParaRPr lang="en-US" sz="2200" dirty="0">
              <a:latin typeface="Bright Melody Personal Use Only" panose="020005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0239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Printable coupon with verification code and QR code</a:t>
            </a:r>
            <a:endParaRPr lang="en-US" sz="10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60704" y="849870"/>
            <a:ext cx="3364992" cy="3785616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mnt/user-data/uploads/Screenshot_2026-05-02_0122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886446"/>
            <a:ext cx="3291840" cy="37124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434840" y="1407654"/>
            <a:ext cx="45720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4892040" y="1316214"/>
            <a:ext cx="36576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56048" y="133450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Unique Coupon ID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434840" y="1745982"/>
            <a:ext cx="45720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4892040" y="1654542"/>
            <a:ext cx="36576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56048" y="167283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Verification Code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434840" y="2294622"/>
            <a:ext cx="45720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4892040" y="2203182"/>
            <a:ext cx="36576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56048" y="222147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Vehicle &amp; Driver details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434840" y="2751822"/>
            <a:ext cx="45720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4892040" y="2660382"/>
            <a:ext cx="36576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56048" y="267867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Fuel Station &amp; Fuel Type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434840" y="3062718"/>
            <a:ext cx="45720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4892040" y="2971278"/>
            <a:ext cx="36576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56048" y="298956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Litres &amp; Cost per Litre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434840" y="3428478"/>
            <a:ext cx="45720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4892040" y="3337038"/>
            <a:ext cx="36576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56048" y="335532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Total Authorised Value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4434840" y="3885678"/>
            <a:ext cx="45720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4892040" y="3794238"/>
            <a:ext cx="36576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56048" y="381252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Authorised by &amp; Date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4434840" y="4159998"/>
            <a:ext cx="45720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dash"/>
          </a:ln>
        </p:spPr>
      </p:sp>
      <p:sp>
        <p:nvSpPr>
          <p:cNvPr id="29" name="Shape 26"/>
          <p:cNvSpPr/>
          <p:nvPr/>
        </p:nvSpPr>
        <p:spPr>
          <a:xfrm>
            <a:off x="4892040" y="4068558"/>
            <a:ext cx="36576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56048" y="408684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QR Code for reference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892040" y="443431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"This coupon is valid for one use only. Any alteration voids this coupon."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9208"/>
            <a:ext cx="9144000" cy="658368"/>
          </a:xfrm>
          <a:prstGeom prst="rect">
            <a:avLst/>
          </a:prstGeom>
          <a:solidFill>
            <a:srgbClr val="001746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40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right Melody Personal Use Only" panose="02000500000000000000" pitchFamily="50" charset="0"/>
                <a:ea typeface="Calibri" pitchFamily="34" charset="-122"/>
                <a:cs typeface="Poppins" panose="00000500000000000000" pitchFamily="2" charset="0"/>
              </a:rPr>
              <a:t>Fuel Logs &amp; Coupon Redemption</a:t>
            </a:r>
            <a:endParaRPr lang="en-US" sz="2200" dirty="0">
              <a:latin typeface="Bright Melody Personal Use Only" panose="020005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098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Completed fuel transactions — redeemed coupons create a permanent log</a:t>
            </a:r>
            <a:endParaRPr lang="en-US" sz="10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92024" y="857304"/>
            <a:ext cx="4370832" cy="212140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mnt/user-data/uploads/Screenshot_2026-05-02_0123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93880"/>
            <a:ext cx="4297680" cy="2048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299700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5568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Fuel Logs — All Redeemed Transactions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81144" y="857304"/>
            <a:ext cx="4370832" cy="212140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/mnt/user-data/uploads/Screenshot_2026-05-02_0123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893880"/>
            <a:ext cx="4297680" cy="20482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299700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5568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Redeem Coupon — Log Fuel Transaction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228600" y="3289608"/>
            <a:ext cx="8686800" cy="1719072"/>
          </a:xfrm>
          <a:prstGeom prst="rect">
            <a:avLst/>
          </a:prstGeom>
          <a:solidFill>
            <a:srgbClr val="001746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11480" y="3381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Redemption Process: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11480" y="3728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1.  Accountant enters coupon ID or verification code — system fetches coupon details automatically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11480" y="4002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2.  Confirms actual litres filled and actual total cost (may differ from authorised amount)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11480" y="42771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3.  Enters date of fuelling and any notes or discrepancies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11480" y="45514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4.  On submit: coupon status changes to Redeemed and a fuel log entry is created permanently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1774"/>
            <a:ext cx="9144000" cy="658368"/>
          </a:xfrm>
          <a:prstGeom prst="rect">
            <a:avLst/>
          </a:prstGeom>
          <a:solidFill>
            <a:srgbClr val="001746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663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right Melody Personal Use Only" panose="02000500000000000000" pitchFamily="50" charset="0"/>
                <a:ea typeface="Calibri" pitchFamily="34" charset="-122"/>
                <a:cs typeface="Poppins" panose="00000500000000000000" pitchFamily="2" charset="0"/>
              </a:rPr>
              <a:t>Maintenance Records</a:t>
            </a:r>
            <a:endParaRPr lang="en-US" sz="2200" dirty="0">
              <a:latin typeface="Bright Melody Personal Use Only" panose="020005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0239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Full service and repair history per vehicle</a:t>
            </a:r>
            <a:endParaRPr lang="en-US" sz="10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92024" y="849870"/>
            <a:ext cx="4370832" cy="212140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mnt/user-data/uploads/Screenshot_2026-05-02_0123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86446"/>
            <a:ext cx="4297680" cy="2048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298956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5568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Maintenance Records List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81144" y="849870"/>
            <a:ext cx="4370832" cy="212140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/mnt/user-data/uploads/Screenshot_2026-05-02_0124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886446"/>
            <a:ext cx="4297680" cy="20482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298956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5568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Log Maintenance Record Form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228600" y="3282174"/>
            <a:ext cx="8686800" cy="1719072"/>
          </a:xfrm>
          <a:prstGeom prst="rect">
            <a:avLst/>
          </a:prstGeom>
          <a:solidFill>
            <a:srgbClr val="001746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11480" y="337361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Captured per Maintenance Record: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11480" y="372108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Vehicle · Date of Service · Service Type (Routine, Repair, Emergency, Other)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11480" y="399540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Description of work done · Total Cost (₦)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11480" y="426972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Vendor / Mechanic (from register) or one-off external vendor name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11480" y="454404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Next Service Date (highlighted in amber when overdue) · Approved By · Notes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1774"/>
            <a:ext cx="9144000" cy="658368"/>
          </a:xfrm>
          <a:prstGeom prst="rect">
            <a:avLst/>
          </a:prstGeom>
          <a:solidFill>
            <a:srgbClr val="001746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663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right Melody Personal Use Only" panose="02000500000000000000" pitchFamily="50" charset="0"/>
                <a:ea typeface="Calibri" pitchFamily="34" charset="-122"/>
                <a:cs typeface="Poppins" panose="00000500000000000000" pitchFamily="2" charset="0"/>
              </a:rPr>
              <a:t>Reports &amp; Analytics</a:t>
            </a:r>
            <a:endParaRPr lang="en-US" sz="2200" dirty="0">
              <a:latin typeface="Bright Melody Personal Use Only" panose="020005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0239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Per-vehicle spending reports exportable to PDF and Excel</a:t>
            </a:r>
            <a:endParaRPr lang="en-US" sz="10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92024" y="849870"/>
            <a:ext cx="4370832" cy="212140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mnt/user-data/uploads/Screenshot_2026-05-02_0125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86446"/>
            <a:ext cx="4297680" cy="2048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298956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5568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Per-Vehicle Spending Report (Web View)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81144" y="849870"/>
            <a:ext cx="4370832" cy="212140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/mnt/user-data/uploads/Screenshot_2026-05-02_0125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886446"/>
            <a:ext cx="4297680" cy="20482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298956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5568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Official PDF Export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228600" y="3282174"/>
            <a:ext cx="8686800" cy="1719072"/>
          </a:xfrm>
          <a:prstGeom prst="rect">
            <a:avLst/>
          </a:prstGeom>
          <a:solidFill>
            <a:srgbClr val="001746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11480" y="337361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Report Features: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11480" y="372108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Filter by date range and specific vehicle (or all vehicles)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11480" y="399540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Summary stats: Total Fuel Spend · Total Maintenance · Grand Total · Vehicles with Activity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11480" y="426972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Vehicle breakdown table: Rank · Plate · Make &amp; Model · Department · Fuel Litres · Fuel Cost · Maintenance · Total · % of Total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11480" y="454404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Export to Excel (.xlsx) or PDF — PDF is branded, official-format, marked Confidential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1774"/>
            <a:ext cx="9144000" cy="658368"/>
          </a:xfrm>
          <a:prstGeom prst="rect">
            <a:avLst/>
          </a:prstGeom>
          <a:solidFill>
            <a:srgbClr val="001746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663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right Melody Personal Use Only" panose="02000500000000000000" pitchFamily="50" charset="0"/>
                <a:ea typeface="Calibri" pitchFamily="34" charset="-122"/>
                <a:cs typeface="Poppins" panose="00000500000000000000" pitchFamily="2" charset="0"/>
              </a:rPr>
              <a:t>Administration</a:t>
            </a:r>
            <a:endParaRPr lang="en-US" sz="2200" dirty="0">
              <a:latin typeface="Bright Melody Personal Use Only" panose="020005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0239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Departments, system users, and role-based access control</a:t>
            </a:r>
            <a:endParaRPr lang="en-US" sz="10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92024" y="849870"/>
            <a:ext cx="4370832" cy="212140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mnt/user-data/uploads/Screenshot_2026-05-02_0125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86446"/>
            <a:ext cx="4297680" cy="2048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298956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5568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Departments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81144" y="849870"/>
            <a:ext cx="4370832" cy="212140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/mnt/user-data/uploads/Screenshot_2026-05-02_0125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886446"/>
            <a:ext cx="4297680" cy="20482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298956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5568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System Users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228600" y="3282174"/>
            <a:ext cx="8686800" cy="1719072"/>
          </a:xfrm>
          <a:prstGeom prst="rect">
            <a:avLst/>
          </a:prstGeom>
          <a:solidFill>
            <a:srgbClr val="001746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11480" y="337361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Departments: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11480" y="368451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University departments that own vehicles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11480" y="401369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Each has a short code (e.g. GENERAL, VC)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11480" y="434287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Shows vehicle count &amp; user count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EEF76D-AB46-A8AA-84FC-2EF5CD0EA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D5B75A4-83A4-60C5-3621-25258CA9A2DA}"/>
              </a:ext>
            </a:extLst>
          </p:cNvPr>
          <p:cNvSpPr/>
          <p:nvPr/>
        </p:nvSpPr>
        <p:spPr>
          <a:xfrm>
            <a:off x="0" y="81774"/>
            <a:ext cx="9144000" cy="658368"/>
          </a:xfrm>
          <a:prstGeom prst="rect">
            <a:avLst/>
          </a:prstGeom>
          <a:solidFill>
            <a:srgbClr val="001746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C2F32B1-9F93-B9CD-4BEC-0C3A5AE9EA5D}"/>
              </a:ext>
            </a:extLst>
          </p:cNvPr>
          <p:cNvSpPr/>
          <p:nvPr/>
        </p:nvSpPr>
        <p:spPr>
          <a:xfrm>
            <a:off x="320040" y="13663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right Melody Personal Use Only" panose="02000500000000000000" pitchFamily="50" charset="0"/>
                <a:ea typeface="Calibri" pitchFamily="34" charset="-122"/>
                <a:cs typeface="Poppins" panose="00000500000000000000" pitchFamily="2" charset="0"/>
              </a:rPr>
              <a:t>Administration</a:t>
            </a:r>
            <a:endParaRPr lang="en-US" sz="2200" dirty="0">
              <a:latin typeface="Bright Melody Personal Use Only" panose="020005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8E1F53D-6904-1B16-97DE-BBC21AD04A5D}"/>
              </a:ext>
            </a:extLst>
          </p:cNvPr>
          <p:cNvSpPr/>
          <p:nvPr/>
        </p:nvSpPr>
        <p:spPr>
          <a:xfrm>
            <a:off x="320040" y="50239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Departments, system users, and role-based access control</a:t>
            </a:r>
            <a:endParaRPr lang="en-US" sz="10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1B3FB51-D2FC-86FC-853B-D7219F93830C}"/>
              </a:ext>
            </a:extLst>
          </p:cNvPr>
          <p:cNvSpPr/>
          <p:nvPr/>
        </p:nvSpPr>
        <p:spPr>
          <a:xfrm>
            <a:off x="192024" y="849870"/>
            <a:ext cx="4370832" cy="212140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122F51BE-9774-B2F7-87AD-0E1AB9D95A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937493"/>
            <a:ext cx="4297680" cy="1946161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35C36ABD-58A1-7BDB-1700-581FD3901F32}"/>
              </a:ext>
            </a:extLst>
          </p:cNvPr>
          <p:cNvSpPr/>
          <p:nvPr/>
        </p:nvSpPr>
        <p:spPr>
          <a:xfrm>
            <a:off x="228600" y="298956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5568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System Roles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8B41882-4DD3-AA2F-7730-2B5C24FCC9F5}"/>
              </a:ext>
            </a:extLst>
          </p:cNvPr>
          <p:cNvSpPr/>
          <p:nvPr/>
        </p:nvSpPr>
        <p:spPr>
          <a:xfrm>
            <a:off x="4581144" y="849870"/>
            <a:ext cx="4370832" cy="212140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>
            <a:extLst>
              <a:ext uri="{FF2B5EF4-FFF2-40B4-BE49-F238E27FC236}">
                <a16:creationId xmlns:a16="http://schemas.microsoft.com/office/drawing/2014/main" id="{8104F8DD-FF81-47C0-F957-F4C760522A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7720" y="939733"/>
            <a:ext cx="4297680" cy="1941682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AAA7F600-069E-E19F-EB7E-359CF65585F9}"/>
              </a:ext>
            </a:extLst>
          </p:cNvPr>
          <p:cNvSpPr/>
          <p:nvPr/>
        </p:nvSpPr>
        <p:spPr>
          <a:xfrm>
            <a:off x="4617720" y="298956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5568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Audit Trail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B0C0999E-C085-C01B-1B96-443350BE8A6A}"/>
              </a:ext>
            </a:extLst>
          </p:cNvPr>
          <p:cNvSpPr/>
          <p:nvPr/>
        </p:nvSpPr>
        <p:spPr>
          <a:xfrm>
            <a:off x="228600" y="3282174"/>
            <a:ext cx="8686800" cy="1719072"/>
          </a:xfrm>
          <a:prstGeom prst="rect">
            <a:avLst/>
          </a:prstGeom>
          <a:solidFill>
            <a:srgbClr val="001746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0F6C695E-6018-2EC2-173E-E209B5E7E25A}"/>
              </a:ext>
            </a:extLst>
          </p:cNvPr>
          <p:cNvSpPr/>
          <p:nvPr/>
        </p:nvSpPr>
        <p:spPr>
          <a:xfrm>
            <a:off x="621211" y="348791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Roles: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44EA4853-85C9-A9B6-D507-88D03F099129}"/>
              </a:ext>
            </a:extLst>
          </p:cNvPr>
          <p:cNvSpPr/>
          <p:nvPr/>
        </p:nvSpPr>
        <p:spPr>
          <a:xfrm>
            <a:off x="621211" y="379881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Super Admin — full access to all modules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FBEA18C0-D6B4-E86D-C75D-1C5F97783C45}"/>
              </a:ext>
            </a:extLst>
          </p:cNvPr>
          <p:cNvSpPr/>
          <p:nvPr/>
        </p:nvSpPr>
        <p:spPr>
          <a:xfrm>
            <a:off x="621211" y="412799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Quality Assurance — audit/view access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3A230A74-A596-E571-E9E1-3EFF657F5263}"/>
              </a:ext>
            </a:extLst>
          </p:cNvPr>
          <p:cNvSpPr/>
          <p:nvPr/>
        </p:nvSpPr>
        <p:spPr>
          <a:xfrm>
            <a:off x="621211" y="445717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• Department User — limited to own dept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834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3">
            <a:extLst>
              <a:ext uri="{FF2B5EF4-FFF2-40B4-BE49-F238E27FC236}">
                <a16:creationId xmlns:a16="http://schemas.microsoft.com/office/drawing/2014/main" id="{81523ADE-DFD9-7BB2-A6ED-A9825C307BDE}"/>
              </a:ext>
            </a:extLst>
          </p:cNvPr>
          <p:cNvSpPr/>
          <p:nvPr/>
        </p:nvSpPr>
        <p:spPr>
          <a:xfrm>
            <a:off x="2514600" y="2164006"/>
            <a:ext cx="4114800" cy="695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CBD5E0"/>
                </a:solidFill>
                <a:latin typeface="Bright Melody Personal Use Only" panose="02000500000000000000" pitchFamily="50" charset="0"/>
                <a:ea typeface="Calibri" pitchFamily="34" charset="-122"/>
                <a:cs typeface="Poppins" panose="00000500000000000000" pitchFamily="2" charset="0"/>
              </a:rPr>
              <a:t>Thank You</a:t>
            </a:r>
            <a:endParaRPr lang="en-US" sz="4800" dirty="0">
              <a:latin typeface="Bright Melody Personal Use Only" panose="020005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B1A9A07F-DDD4-E470-41B5-1F92D6C291D1}"/>
              </a:ext>
            </a:extLst>
          </p:cNvPr>
          <p:cNvSpPr/>
          <p:nvPr/>
        </p:nvSpPr>
        <p:spPr>
          <a:xfrm>
            <a:off x="1289957" y="2663157"/>
            <a:ext cx="6564086" cy="695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BD5E0"/>
                </a:solidFill>
                <a:latin typeface="Bright Melody Personal Use Only" panose="02000500000000000000" pitchFamily="50" charset="0"/>
                <a:ea typeface="Calibri" pitchFamily="34" charset="-122"/>
                <a:cs typeface="Poppins" panose="00000500000000000000" pitchFamily="2" charset="0"/>
              </a:rPr>
              <a:t>vaisah.zirra</a:t>
            </a:r>
            <a:r>
              <a:rPr lang="en-US" sz="2400" dirty="0">
                <a:solidFill>
                  <a:srgbClr val="CBD5E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@</a:t>
            </a:r>
            <a:r>
              <a:rPr lang="en-US" sz="2400" dirty="0">
                <a:solidFill>
                  <a:srgbClr val="CBD5E0"/>
                </a:solidFill>
                <a:latin typeface="Bright Melody Personal Use Only" panose="02000500000000000000" pitchFamily="50" charset="0"/>
                <a:ea typeface="Calibri" pitchFamily="34" charset="-122"/>
                <a:cs typeface="Poppins" panose="00000500000000000000" pitchFamily="2" charset="0"/>
              </a:rPr>
              <a:t>student.neu.eu.ng</a:t>
            </a:r>
            <a:endParaRPr lang="en-US" sz="2400" dirty="0">
              <a:latin typeface="Bright Melody Personal Use Only" panose="02000500000000000000" pitchFamily="50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799</Words>
  <Application>Microsoft Office PowerPoint</Application>
  <PresentationFormat>On-screen Show (16:9)</PresentationFormat>
  <Paragraphs>122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Bright Melody Personal Use Only</vt:lpstr>
      <vt:lpstr>Cascadia Code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VanaraFleetsOps — Fleet Management System</dc:title>
  <dc:subject>PptxGenJS Presentation</dc:subject>
  <dc:creator>PptxGenJS</dc:creator>
  <cp:lastModifiedBy>Vaisah Peter Zirra</cp:lastModifiedBy>
  <cp:revision>5</cp:revision>
  <dcterms:created xsi:type="dcterms:W3CDTF">2026-05-02T00:53:40Z</dcterms:created>
  <dcterms:modified xsi:type="dcterms:W3CDTF">2026-05-02T01:13:32Z</dcterms:modified>
</cp:coreProperties>
</file>